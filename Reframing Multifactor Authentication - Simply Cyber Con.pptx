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60" r:id="rId1"/>
  </p:sldMasterIdLst>
  <p:notesMasterIdLst>
    <p:notesMasterId r:id="rId4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85548"/>
  </p:normalViewPr>
  <p:slideViewPr>
    <p:cSldViewPr snapToGrid="0">
      <p:cViewPr varScale="1">
        <p:scale>
          <a:sx n="144" d="100"/>
          <a:sy n="144" d="100"/>
        </p:scale>
        <p:origin x="1264" y="184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" name="Google Shape;58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g39df5fabcf6_1_15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" name="Google Shape;65;g39df5fabcf6_1_15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g39df5fabcf6_1_17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" name="Google Shape;71;g39df5fabcf6_1_17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g39df5fabcf6_1_18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4" name="Google Shape;84;g39df5fabcf6_1_18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g39df5fabcf6_1_19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" name="Google Shape;89;g39df5fabcf6_1_19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g39df5fabcf6_1_20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" name="Google Shape;95;g39df5fabcf6_1_20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39df5fabcf6_1_19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39df5fabcf6_1_19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9df5fabcf6_1_2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" name="Google Shape;108;g39df5fabcf6_1_2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9df5fabcf6_1_20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9df5fabcf6_1_20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g39df5fabcf6_1_2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0" name="Google Shape;120;g39df5fabcf6_1_2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9df5fabcf6_1_2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9df5fabcf6_1_2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g39df5fabcf6_1_2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1" name="Google Shape;131;g39df5fabcf6_1_22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g39df5fabcf6_1_2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7" name="Google Shape;137;g39df5fabcf6_1_2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g39df5fabcf6_1_23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3" name="Google Shape;143;g39df5fabcf6_1_23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Reframing and Strategies for Improvement</a:t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g39df5fabcf6_1_24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8" name="Google Shape;148;g39df5fabcf6_1_24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Closing these gaps requires targeted education, empathetic communication, and ongoing user support.</a:t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9df5fabcf6_1_24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9df5fabcf6_1_24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g39df5fabcf6_1_25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0" name="Google Shape;160;g39df5fabcf6_1_25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g39df5fabcf6_1_2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5" name="Google Shape;165;g39df5fabcf6_1_2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g39df5fabcf6_1_26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1" name="Google Shape;171;g39df5fabcf6_1_26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g39df5fabcf6_1_26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7" name="Google Shape;177;g39df5fabcf6_1_26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>
                <a:solidFill>
                  <a:schemeClr val="dk1"/>
                </a:solidFill>
              </a:rPr>
              <a:t>Do the opposite of this presentation</a:t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g39df5fabcf6_1_27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3" name="Google Shape;183;g39df5fabcf6_1_27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39df5fabcf6_1_28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8" name="Google Shape;188;g39df5fabcf6_1_28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g39df5fabcf6_1_27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4" name="Google Shape;194;g39df5fabcf6_1_27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g39df5fabcf6_1_29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0" name="Google Shape;200;g39df5fabcf6_1_29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g39df5fabcf6_1_29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5" name="Google Shape;205;g39df5fabcf6_1_29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g39df5fabcf6_1_30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1" name="Google Shape;211;g39df5fabcf6_1_30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g39df5fabcf6_1_3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6" name="Google Shape;216;g39df5fabcf6_1_3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lang="en" sz="1800">
                <a:solidFill>
                  <a:schemeClr val="dk1"/>
                </a:solidFill>
              </a:rPr>
              <a:t>A lot more, so I'll stop now before I get bullied for leaving anything out</a:t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g39df5fabcf6_1_3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2" name="Google Shape;222;g39df5fabcf6_1_3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g39df5fabcf6_1_3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8" name="Google Shape;228;g39df5fabcf6_1_3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g39df5fabcf6_1_3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6" name="Google Shape;236;g39df5fabcf6_1_32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g39df5fabcf6_1_3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1" name="Google Shape;241;g39df5fabcf6_1_3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g39df5fabcf6_1_33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7" name="Google Shape;247;g39df5fabcf6_1_33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g39df5fabcf6_1_34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3" name="Google Shape;253;g39df5fabcf6_1_34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g39f2891b105_0_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9" name="Google Shape;259;g39f2891b105_0_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g39df5fabcf6_1_34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4" name="Google Shape;264;g39df5fabcf6_1_34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g39f35dee9dc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0" name="Google Shape;270;g39f35dee9dc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 out of 8 switched</a:t>
            </a:r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g39df5fabcf6_1_36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6" name="Google Shape;276;g39df5fabcf6_1_36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g39df5fabcf6_1_36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1" name="Google Shape;281;g39df5fabcf6_1_36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g39df5fabcf6_1_38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7" name="Google Shape;287;g39df5fabcf6_1_38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g39fb30fcef7_0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3" name="Google Shape;293;g39fb30fcef7_0_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g39df5fabcf6_1_39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2" name="Google Shape;302;g39df5fabcf6_1_39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289850" y="383477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3" name="Google Shape;13;p2"/>
          <p:cNvSpPr/>
          <p:nvPr/>
        </p:nvSpPr>
        <p:spPr>
          <a:xfrm>
            <a:off x="0" y="3252519"/>
            <a:ext cx="2174400" cy="126900"/>
          </a:xfrm>
          <a:prstGeom prst="rect">
            <a:avLst/>
          </a:prstGeom>
          <a:solidFill>
            <a:srgbClr val="3E7C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6" name="Google Shape;16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7" name="Google Shape;17;p3"/>
          <p:cNvSpPr/>
          <p:nvPr/>
        </p:nvSpPr>
        <p:spPr>
          <a:xfrm>
            <a:off x="3484800" y="2995780"/>
            <a:ext cx="2174400" cy="126900"/>
          </a:xfrm>
          <a:prstGeom prst="rect">
            <a:avLst/>
          </a:prstGeom>
          <a:solidFill>
            <a:srgbClr val="3E7C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4"/>
          <p:cNvSpPr txBox="1">
            <a:spLocks noGrp="1"/>
          </p:cNvSpPr>
          <p:nvPr>
            <p:ph type="title"/>
          </p:nvPr>
        </p:nvSpPr>
        <p:spPr>
          <a:xfrm>
            <a:off x="311700" y="930092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4"/>
          <p:cNvSpPr txBox="1">
            <a:spLocks noGrp="1"/>
          </p:cNvSpPr>
          <p:nvPr>
            <p:ph type="body" idx="1"/>
          </p:nvPr>
        </p:nvSpPr>
        <p:spPr>
          <a:xfrm>
            <a:off x="1029000" y="1574974"/>
            <a:ext cx="7086000" cy="2595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>
                <a:solidFill>
                  <a:schemeClr val="dk1"/>
                </a:solidFill>
              </a:defRPr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1" name="Google Shape;21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2" name="Google Shape;22;p4"/>
          <p:cNvSpPr/>
          <p:nvPr/>
        </p:nvSpPr>
        <p:spPr>
          <a:xfrm>
            <a:off x="6969600" y="4421544"/>
            <a:ext cx="2174400" cy="126900"/>
          </a:xfrm>
          <a:prstGeom prst="rect">
            <a:avLst/>
          </a:prstGeom>
          <a:solidFill>
            <a:srgbClr val="3E7C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6" name="Google Shape;26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7" name="Google Shape;27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3" name="Google Shape;33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4" name="Google Shape;34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8"/>
          <p:cNvSpPr txBox="1">
            <a:spLocks noGrp="1"/>
          </p:cNvSpPr>
          <p:nvPr>
            <p:ph type="title"/>
          </p:nvPr>
        </p:nvSpPr>
        <p:spPr>
          <a:xfrm>
            <a:off x="635250" y="526354"/>
            <a:ext cx="78735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1pPr>
            <a:lvl2pPr lvl="1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7" name="Google Shape;37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8" name="Google Shape;38;p8"/>
          <p:cNvSpPr/>
          <p:nvPr/>
        </p:nvSpPr>
        <p:spPr>
          <a:xfrm>
            <a:off x="0" y="1390056"/>
            <a:ext cx="490200" cy="2211000"/>
          </a:xfrm>
          <a:prstGeom prst="rect">
            <a:avLst/>
          </a:prstGeom>
          <a:solidFill>
            <a:srgbClr val="3E7C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" name="Google Shape;39;p8"/>
          <p:cNvSpPr/>
          <p:nvPr/>
        </p:nvSpPr>
        <p:spPr>
          <a:xfrm>
            <a:off x="8653800" y="1390056"/>
            <a:ext cx="490200" cy="2211000"/>
          </a:xfrm>
          <a:prstGeom prst="rect">
            <a:avLst/>
          </a:prstGeom>
          <a:solidFill>
            <a:srgbClr val="3E7C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" name="Google Shape;42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43" name="Google Shape;43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44" name="Google Shape;44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5" name="Google Shape;45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8" name="Google Shape;48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51" name="Google Shape;51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2" name="Google Shape;52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">
  <p:cSld name="DEFAULT">
    <p:bg>
      <p:bgPr>
        <a:solidFill>
          <a:schemeClr val="lt1"/>
        </a:solidFill>
        <a:effectLst/>
      </p:bgPr>
    </p:bg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hd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7" Type="http://schemas.openxmlformats.org/officeDocument/2006/relationships/image" Target="../media/image5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4.jpg"/><Relationship Id="rId5" Type="http://schemas.openxmlformats.org/officeDocument/2006/relationships/image" Target="../media/image3.png"/><Relationship Id="rId4" Type="http://schemas.openxmlformats.org/officeDocument/2006/relationships/image" Target="../media/image2.jp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3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8.png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4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Reframing Multifactor Authentication in Contemporary Cybersecurity</a:t>
            </a:r>
            <a:endParaRPr/>
          </a:p>
        </p:txBody>
      </p:sp>
      <p:sp>
        <p:nvSpPr>
          <p:cNvPr id="61" name="Google Shape;61;p14"/>
          <p:cNvSpPr txBox="1">
            <a:spLocks noGrp="1"/>
          </p:cNvSpPr>
          <p:nvPr>
            <p:ph type="subTitle" idx="1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</a:rPr>
              <a:t>Presented by Sam Fleming</a:t>
            </a:r>
            <a:endParaRPr dirty="0">
              <a:solidFill>
                <a:schemeClr val="dk1"/>
              </a:solidFill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B334727-C726-6491-75F3-CAEA14FB436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</a:t>
            </a:fld>
            <a:endParaRPr lang="en"/>
          </a:p>
        </p:txBody>
      </p:sp>
      <p:sp>
        <p:nvSpPr>
          <p:cNvPr id="62" name="Google Shape;62;p14"/>
          <p:cNvSpPr/>
          <p:nvPr/>
        </p:nvSpPr>
        <p:spPr>
          <a:xfrm>
            <a:off x="0" y="3252519"/>
            <a:ext cx="2174400" cy="126900"/>
          </a:xfrm>
          <a:prstGeom prst="rect">
            <a:avLst/>
          </a:prstGeom>
          <a:solidFill>
            <a:srgbClr val="3E7C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E151511-2595-5E9A-9032-DC6698847182}"/>
              </a:ext>
            </a:extLst>
          </p:cNvPr>
          <p:cNvSpPr txBox="1"/>
          <p:nvPr/>
        </p:nvSpPr>
        <p:spPr>
          <a:xfrm>
            <a:off x="3400147" y="4821121"/>
            <a:ext cx="234370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Simply Cyber Con 2025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5"/>
          <p:cNvSpPr txBox="1">
            <a:spLocks noGrp="1"/>
          </p:cNvSpPr>
          <p:nvPr>
            <p:ph type="title"/>
          </p:nvPr>
        </p:nvSpPr>
        <p:spPr>
          <a:xfrm>
            <a:off x="311700" y="930092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Disclaimers</a:t>
            </a:r>
            <a:endParaRPr/>
          </a:p>
        </p:txBody>
      </p:sp>
      <p:sp>
        <p:nvSpPr>
          <p:cNvPr id="68" name="Google Shape;68;p15"/>
          <p:cNvSpPr txBox="1">
            <a:spLocks noGrp="1"/>
          </p:cNvSpPr>
          <p:nvPr>
            <p:ph type="body" idx="1"/>
          </p:nvPr>
        </p:nvSpPr>
        <p:spPr>
          <a:xfrm>
            <a:off x="1029000" y="1574974"/>
            <a:ext cx="7086000" cy="2595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 am not an MFA expert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This is not an exhaustive discussion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This is not a discussion on which methods are best</a:t>
            </a:r>
            <a:endParaRPr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7FA9C9F-EA2B-4CC2-21C5-9CECD5C4A68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2</a:t>
            </a:fld>
            <a:endParaRPr lang="e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43AD76E-3663-E06E-E500-9EE1F730F131}"/>
              </a:ext>
            </a:extLst>
          </p:cNvPr>
          <p:cNvSpPr txBox="1"/>
          <p:nvPr/>
        </p:nvSpPr>
        <p:spPr>
          <a:xfrm>
            <a:off x="3400147" y="4821121"/>
            <a:ext cx="234370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Simply Cyber Con 2025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6"/>
          <p:cNvSpPr/>
          <p:nvPr/>
        </p:nvSpPr>
        <p:spPr>
          <a:xfrm>
            <a:off x="3393825" y="807623"/>
            <a:ext cx="2174400" cy="1269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" name="Google Shape;74;p16"/>
          <p:cNvSpPr/>
          <p:nvPr/>
        </p:nvSpPr>
        <p:spPr>
          <a:xfrm>
            <a:off x="968000" y="2994556"/>
            <a:ext cx="2174400" cy="1269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" name="Google Shape;75;p16"/>
          <p:cNvSpPr/>
          <p:nvPr/>
        </p:nvSpPr>
        <p:spPr>
          <a:xfrm>
            <a:off x="5819650" y="2021981"/>
            <a:ext cx="2174400" cy="1269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" name="Google Shape;76;p16"/>
          <p:cNvSpPr/>
          <p:nvPr/>
        </p:nvSpPr>
        <p:spPr>
          <a:xfrm>
            <a:off x="3393825" y="4208941"/>
            <a:ext cx="2174400" cy="1269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7" name="Google Shape;77;p16" title="Dancing.jpg"/>
          <p:cNvPicPr preferRelativeResize="0"/>
          <p:nvPr/>
        </p:nvPicPr>
        <p:blipFill rotWithShape="1">
          <a:blip r:embed="rId3">
            <a:alphaModFix/>
          </a:blip>
          <a:srcRect l="15040" r="15033"/>
          <a:stretch/>
        </p:blipFill>
        <p:spPr>
          <a:xfrm>
            <a:off x="968875" y="808078"/>
            <a:ext cx="2173450" cy="2071725"/>
          </a:xfrm>
          <a:prstGeom prst="rect">
            <a:avLst/>
          </a:prstGeom>
          <a:noFill/>
          <a:ln>
            <a:noFill/>
          </a:ln>
        </p:spPr>
      </p:pic>
      <p:pic>
        <p:nvPicPr>
          <p:cNvPr id="78" name="Google Shape;78;p16" title="Raleigh.jpg"/>
          <p:cNvPicPr preferRelativeResize="0"/>
          <p:nvPr/>
        </p:nvPicPr>
        <p:blipFill rotWithShape="1">
          <a:blip r:embed="rId4">
            <a:alphaModFix/>
          </a:blip>
          <a:srcRect l="22798" t="15657" r="22803" b="8296"/>
          <a:stretch/>
        </p:blipFill>
        <p:spPr>
          <a:xfrm>
            <a:off x="3394275" y="1049572"/>
            <a:ext cx="2173450" cy="3022188"/>
          </a:xfrm>
          <a:prstGeom prst="rect">
            <a:avLst/>
          </a:prstGeom>
          <a:noFill/>
          <a:ln>
            <a:noFill/>
          </a:ln>
        </p:spPr>
      </p:pic>
      <p:pic>
        <p:nvPicPr>
          <p:cNvPr id="79" name="Google Shape;79;p16" title="DiscGolf.png"/>
          <p:cNvPicPr preferRelativeResize="0"/>
          <p:nvPr/>
        </p:nvPicPr>
        <p:blipFill rotWithShape="1">
          <a:blip r:embed="rId5">
            <a:alphaModFix/>
          </a:blip>
          <a:srcRect t="9814" b="9806"/>
          <a:stretch/>
        </p:blipFill>
        <p:spPr>
          <a:xfrm>
            <a:off x="968915" y="3236331"/>
            <a:ext cx="2173453" cy="1099089"/>
          </a:xfrm>
          <a:prstGeom prst="rect">
            <a:avLst/>
          </a:prstGeom>
          <a:noFill/>
          <a:ln>
            <a:noFill/>
          </a:ln>
        </p:spPr>
      </p:pic>
      <p:pic>
        <p:nvPicPr>
          <p:cNvPr id="80" name="Google Shape;80;p16" title="PXL_20251012_133212370.TS-000.jpg"/>
          <p:cNvPicPr preferRelativeResize="0"/>
          <p:nvPr/>
        </p:nvPicPr>
        <p:blipFill rotWithShape="1">
          <a:blip r:embed="rId6">
            <a:alphaModFix/>
          </a:blip>
          <a:srcRect l="10661" r="10653"/>
          <a:stretch/>
        </p:blipFill>
        <p:spPr>
          <a:xfrm>
            <a:off x="5819675" y="2263695"/>
            <a:ext cx="2173450" cy="2071722"/>
          </a:xfrm>
          <a:prstGeom prst="rect">
            <a:avLst/>
          </a:prstGeom>
          <a:noFill/>
          <a:ln>
            <a:noFill/>
          </a:ln>
        </p:spPr>
      </p:pic>
      <p:pic>
        <p:nvPicPr>
          <p:cNvPr id="81" name="Google Shape;81;p16" title="ATO_meetup_Sam.jpg"/>
          <p:cNvPicPr preferRelativeResize="0"/>
          <p:nvPr/>
        </p:nvPicPr>
        <p:blipFill rotWithShape="1">
          <a:blip r:embed="rId7">
            <a:alphaModFix/>
          </a:blip>
          <a:srcRect t="12076" b="12068"/>
          <a:stretch/>
        </p:blipFill>
        <p:spPr>
          <a:xfrm>
            <a:off x="5819676" y="808072"/>
            <a:ext cx="2173451" cy="109909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4B85736-0A16-17BE-0FF6-DF7F1D274B3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3</a:t>
            </a:fld>
            <a:endParaRPr lang="e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D9B0D0A-C773-ACB8-7349-77F46E4B34E7}"/>
              </a:ext>
            </a:extLst>
          </p:cNvPr>
          <p:cNvSpPr txBox="1"/>
          <p:nvPr/>
        </p:nvSpPr>
        <p:spPr>
          <a:xfrm>
            <a:off x="3400147" y="4821121"/>
            <a:ext cx="234370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Simply Cyber Con 2025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7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is MFA?</a:t>
            </a:r>
            <a:endParaRPr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DA864DF-9F82-E0E0-D18A-A7DA9456A3D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4</a:t>
            </a:fld>
            <a:endParaRPr lang="e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3857517-2B01-76D6-07C8-F0E34110DB7C}"/>
              </a:ext>
            </a:extLst>
          </p:cNvPr>
          <p:cNvSpPr txBox="1"/>
          <p:nvPr/>
        </p:nvSpPr>
        <p:spPr>
          <a:xfrm>
            <a:off x="3400147" y="4821121"/>
            <a:ext cx="234370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Simply Cyber Con 2025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8"/>
          <p:cNvSpPr txBox="1">
            <a:spLocks noGrp="1"/>
          </p:cNvSpPr>
          <p:nvPr>
            <p:ph type="title"/>
          </p:nvPr>
        </p:nvSpPr>
        <p:spPr>
          <a:xfrm>
            <a:off x="311700" y="930092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Definition</a:t>
            </a:r>
            <a:endParaRPr/>
          </a:p>
        </p:txBody>
      </p:sp>
      <p:sp>
        <p:nvSpPr>
          <p:cNvPr id="92" name="Google Shape;92;p18"/>
          <p:cNvSpPr txBox="1">
            <a:spLocks noGrp="1"/>
          </p:cNvSpPr>
          <p:nvPr>
            <p:ph type="body" idx="1"/>
          </p:nvPr>
        </p:nvSpPr>
        <p:spPr>
          <a:xfrm>
            <a:off x="1029000" y="1574974"/>
            <a:ext cx="7086000" cy="2595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Multifactor Authentication </a:t>
            </a:r>
            <a:r>
              <a:rPr lang="en" i="1"/>
              <a:t>(noun)</a:t>
            </a:r>
            <a:r>
              <a:rPr lang="en"/>
              <a:t>:</a:t>
            </a:r>
            <a:br>
              <a:rPr lang="en"/>
            </a:br>
            <a:r>
              <a:rPr lang="en"/>
              <a:t>A security method that requires users to provide two or more verification factors to gain access to an account, application, or system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endParaRPr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664A040-3D1E-A208-02D3-896D6583EF9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5</a:t>
            </a:fld>
            <a:endParaRPr lang="e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A16EFAD-BD5B-A255-DF66-933A55AE0368}"/>
              </a:ext>
            </a:extLst>
          </p:cNvPr>
          <p:cNvSpPr txBox="1"/>
          <p:nvPr/>
        </p:nvSpPr>
        <p:spPr>
          <a:xfrm>
            <a:off x="3400147" y="4821121"/>
            <a:ext cx="234370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Simply Cyber Con 2025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19"/>
          <p:cNvSpPr txBox="1"/>
          <p:nvPr/>
        </p:nvSpPr>
        <p:spPr>
          <a:xfrm>
            <a:off x="311700" y="780350"/>
            <a:ext cx="8059200" cy="253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900" b="1">
                <a:solidFill>
                  <a:schemeClr val="accent1"/>
                </a:solidFill>
              </a:rPr>
              <a:t>“</a:t>
            </a:r>
            <a:endParaRPr sz="10900" b="1">
              <a:solidFill>
                <a:schemeClr val="accent1"/>
              </a:solidFill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900" b="1">
                <a:solidFill>
                  <a:schemeClr val="accent1"/>
                </a:solidFill>
              </a:rPr>
              <a:t>”</a:t>
            </a:r>
            <a:endParaRPr sz="10900" b="1">
              <a:solidFill>
                <a:schemeClr val="accent1"/>
              </a:solidFill>
            </a:endParaRPr>
          </a:p>
        </p:txBody>
      </p:sp>
      <p:sp>
        <p:nvSpPr>
          <p:cNvPr id="98" name="Google Shape;98;p19"/>
          <p:cNvSpPr txBox="1">
            <a:spLocks noGrp="1"/>
          </p:cNvSpPr>
          <p:nvPr>
            <p:ph type="title" idx="4294967295"/>
          </p:nvPr>
        </p:nvSpPr>
        <p:spPr>
          <a:xfrm>
            <a:off x="311700" y="4242717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1920"/>
              <a:t>* Real world poll of my fiancee at 9 p.m. on a Sunday</a:t>
            </a:r>
            <a:endParaRPr sz="1920"/>
          </a:p>
        </p:txBody>
      </p:sp>
      <p:sp>
        <p:nvSpPr>
          <p:cNvPr id="99" name="Google Shape;99;p19"/>
          <p:cNvSpPr txBox="1">
            <a:spLocks noGrp="1"/>
          </p:cNvSpPr>
          <p:nvPr>
            <p:ph type="body" idx="1"/>
          </p:nvPr>
        </p:nvSpPr>
        <p:spPr>
          <a:xfrm>
            <a:off x="1007650" y="1168075"/>
            <a:ext cx="6647400" cy="2149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400" i="1">
                <a:solidFill>
                  <a:schemeClr val="dk1"/>
                </a:solidFill>
              </a:rPr>
              <a:t>That's the thing where a program texts you a code to get in.</a:t>
            </a:r>
            <a:endParaRPr sz="3400" i="1">
              <a:solidFill>
                <a:schemeClr val="dk1"/>
              </a:solidFill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272D0C3-A9D8-BFA5-3790-368AF7FC252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6</a:t>
            </a:fld>
            <a:endParaRPr lang="e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7B4D0C6-984B-F838-A195-D407A8B42C52}"/>
              </a:ext>
            </a:extLst>
          </p:cNvPr>
          <p:cNvSpPr txBox="1"/>
          <p:nvPr/>
        </p:nvSpPr>
        <p:spPr>
          <a:xfrm>
            <a:off x="3400147" y="4821121"/>
            <a:ext cx="234370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Simply Cyber Con 2025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0"/>
          <p:cNvSpPr txBox="1">
            <a:spLocks noGrp="1"/>
          </p:cNvSpPr>
          <p:nvPr>
            <p:ph type="title"/>
          </p:nvPr>
        </p:nvSpPr>
        <p:spPr>
          <a:xfrm>
            <a:off x="311700" y="930092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“three factors of MFA”</a:t>
            </a:r>
            <a:endParaRPr/>
          </a:p>
        </p:txBody>
      </p:sp>
      <p:sp>
        <p:nvSpPr>
          <p:cNvPr id="105" name="Google Shape;105;p20"/>
          <p:cNvSpPr txBox="1">
            <a:spLocks noGrp="1"/>
          </p:cNvSpPr>
          <p:nvPr>
            <p:ph type="body" idx="1"/>
          </p:nvPr>
        </p:nvSpPr>
        <p:spPr>
          <a:xfrm>
            <a:off x="1029000" y="1574974"/>
            <a:ext cx="7086000" cy="2595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Something you have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Something you know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Something you are</a:t>
            </a:r>
            <a:endParaRPr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986B404-69D6-7F45-DDE7-A33510798C6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7</a:t>
            </a:fld>
            <a:endParaRPr lang="e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168833C-8268-AD5D-FFB0-038260619ADF}"/>
              </a:ext>
            </a:extLst>
          </p:cNvPr>
          <p:cNvSpPr txBox="1"/>
          <p:nvPr/>
        </p:nvSpPr>
        <p:spPr>
          <a:xfrm>
            <a:off x="3400147" y="4821121"/>
            <a:ext cx="234370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Simply Cyber Con 2025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21"/>
          <p:cNvSpPr txBox="1">
            <a:spLocks noGrp="1"/>
          </p:cNvSpPr>
          <p:nvPr>
            <p:ph type="body" idx="1"/>
          </p:nvPr>
        </p:nvSpPr>
        <p:spPr>
          <a:xfrm>
            <a:off x="1029000" y="1574974"/>
            <a:ext cx="7086000" cy="2595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2500" lnSpcReduction="20000"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Something you know</a:t>
            </a:r>
            <a:endParaRPr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Passwords</a:t>
            </a:r>
            <a:endParaRPr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PINs</a:t>
            </a:r>
            <a:endParaRPr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Security questions and answers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Something you have</a:t>
            </a:r>
            <a:endParaRPr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Mobile phones</a:t>
            </a:r>
            <a:endParaRPr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Authentication apps</a:t>
            </a:r>
            <a:endParaRPr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Security tokens or key fobs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Something you are</a:t>
            </a:r>
            <a:endParaRPr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Fingerprints</a:t>
            </a:r>
            <a:endParaRPr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Facial recognition</a:t>
            </a:r>
            <a:endParaRPr/>
          </a:p>
        </p:txBody>
      </p:sp>
      <p:sp>
        <p:nvSpPr>
          <p:cNvPr id="111" name="Google Shape;111;p21"/>
          <p:cNvSpPr txBox="1">
            <a:spLocks noGrp="1"/>
          </p:cNvSpPr>
          <p:nvPr>
            <p:ph type="title"/>
          </p:nvPr>
        </p:nvSpPr>
        <p:spPr>
          <a:xfrm>
            <a:off x="311700" y="930092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Current MFA methods</a:t>
            </a:r>
            <a:endParaRPr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526170B-750F-0DF4-F330-F08D11C922F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8</a:t>
            </a:fld>
            <a:endParaRPr lang="e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8534469-EC3F-6CA8-7AC4-0CA8848FC07E}"/>
              </a:ext>
            </a:extLst>
          </p:cNvPr>
          <p:cNvSpPr txBox="1"/>
          <p:nvPr/>
        </p:nvSpPr>
        <p:spPr>
          <a:xfrm>
            <a:off x="3400147" y="4821121"/>
            <a:ext cx="234370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Simply Cyber Con 2025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22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Current perception of MFA</a:t>
            </a:r>
            <a:endParaRPr/>
          </a:p>
        </p:txBody>
      </p:sp>
      <p:pic>
        <p:nvPicPr>
          <p:cNvPr id="117" name="Google Shape;117;p22" title="simplewordcloud.com_1024x.png"/>
          <p:cNvPicPr preferRelativeResize="0"/>
          <p:nvPr/>
        </p:nvPicPr>
        <p:blipFill rotWithShape="1">
          <a:blip r:embed="rId3">
            <a:alphaModFix/>
          </a:blip>
          <a:srcRect t="4636" b="4636"/>
          <a:stretch/>
        </p:blipFill>
        <p:spPr>
          <a:xfrm>
            <a:off x="1368400" y="966700"/>
            <a:ext cx="6407199" cy="4030698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ABCBC5E-0C61-287B-1689-5EA5CD77861F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9</a:t>
            </a:fld>
            <a:endParaRPr lang="e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780783F-8EA9-D268-98E7-BD73BA2748BB}"/>
              </a:ext>
            </a:extLst>
          </p:cNvPr>
          <p:cNvSpPr txBox="1"/>
          <p:nvPr/>
        </p:nvSpPr>
        <p:spPr>
          <a:xfrm>
            <a:off x="3400147" y="4821121"/>
            <a:ext cx="234370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Simply Cyber Con 2025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23"/>
          <p:cNvSpPr txBox="1">
            <a:spLocks noGrp="1"/>
          </p:cNvSpPr>
          <p:nvPr>
            <p:ph type="title"/>
          </p:nvPr>
        </p:nvSpPr>
        <p:spPr>
          <a:xfrm>
            <a:off x="311700" y="930092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Why the negative perception?</a:t>
            </a:r>
            <a:endParaRPr/>
          </a:p>
        </p:txBody>
      </p:sp>
      <p:sp>
        <p:nvSpPr>
          <p:cNvPr id="123" name="Google Shape;123;p23"/>
          <p:cNvSpPr txBox="1">
            <a:spLocks noGrp="1"/>
          </p:cNvSpPr>
          <p:nvPr>
            <p:ph type="body" idx="1"/>
          </p:nvPr>
        </p:nvSpPr>
        <p:spPr>
          <a:xfrm>
            <a:off x="1029000" y="1574974"/>
            <a:ext cx="7086000" cy="2595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Gradual public release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Viewed as a hindrance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SMS is considered secure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endParaRPr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311ADEE-D99F-5806-045A-C5115C79B3CF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10</a:t>
            </a:fld>
            <a:endParaRPr lang="e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6A06442-9ADB-96FD-5BF6-386A87B76BCE}"/>
              </a:ext>
            </a:extLst>
          </p:cNvPr>
          <p:cNvSpPr txBox="1"/>
          <p:nvPr/>
        </p:nvSpPr>
        <p:spPr>
          <a:xfrm>
            <a:off x="3400147" y="4821121"/>
            <a:ext cx="234370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Simply Cyber Con 2025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24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/>
              <a:t>What has been done?</a:t>
            </a:r>
            <a:endParaRPr sz="360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45FD20C-6F00-4364-BDD4-15B285A2C86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11</a:t>
            </a:fld>
            <a:endParaRPr lang="e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A10FEA9-22A3-8568-85EB-18F473907E1E}"/>
              </a:ext>
            </a:extLst>
          </p:cNvPr>
          <p:cNvSpPr txBox="1"/>
          <p:nvPr/>
        </p:nvSpPr>
        <p:spPr>
          <a:xfrm>
            <a:off x="3400147" y="4821121"/>
            <a:ext cx="234370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Simply Cyber Con 2025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25"/>
          <p:cNvSpPr txBox="1">
            <a:spLocks noGrp="1"/>
          </p:cNvSpPr>
          <p:nvPr>
            <p:ph type="title"/>
          </p:nvPr>
        </p:nvSpPr>
        <p:spPr>
          <a:xfrm>
            <a:off x="311700" y="930092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Efforts to promote MFA adoption</a:t>
            </a:r>
            <a:endParaRPr/>
          </a:p>
        </p:txBody>
      </p:sp>
      <p:sp>
        <p:nvSpPr>
          <p:cNvPr id="134" name="Google Shape;134;p25"/>
          <p:cNvSpPr txBox="1">
            <a:spLocks noGrp="1"/>
          </p:cNvSpPr>
          <p:nvPr>
            <p:ph type="body" idx="1"/>
          </p:nvPr>
        </p:nvSpPr>
        <p:spPr>
          <a:xfrm>
            <a:off x="1029000" y="1574974"/>
            <a:ext cx="7086000" cy="2595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Public awareness campaigns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Platforms requiring MFA by default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MFA setup integrated into onboarding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Innovations aimed at improving user experience</a:t>
            </a:r>
            <a:endParaRPr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ED04283-F9E9-196B-53BE-855447E213C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12</a:t>
            </a:fld>
            <a:endParaRPr lang="e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DDAE971-591F-69F6-6610-64E33FCF0AD9}"/>
              </a:ext>
            </a:extLst>
          </p:cNvPr>
          <p:cNvSpPr txBox="1"/>
          <p:nvPr/>
        </p:nvSpPr>
        <p:spPr>
          <a:xfrm>
            <a:off x="3400147" y="4821121"/>
            <a:ext cx="234370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Simply Cyber Con 2025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6"/>
          <p:cNvSpPr txBox="1">
            <a:spLocks noGrp="1"/>
          </p:cNvSpPr>
          <p:nvPr>
            <p:ph type="title"/>
          </p:nvPr>
        </p:nvSpPr>
        <p:spPr>
          <a:xfrm>
            <a:off x="311700" y="930092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Challenges faced by promoters</a:t>
            </a:r>
            <a:endParaRPr/>
          </a:p>
        </p:txBody>
      </p:sp>
      <p:sp>
        <p:nvSpPr>
          <p:cNvPr id="140" name="Google Shape;140;p26"/>
          <p:cNvSpPr txBox="1">
            <a:spLocks noGrp="1"/>
          </p:cNvSpPr>
          <p:nvPr>
            <p:ph type="body" idx="1"/>
          </p:nvPr>
        </p:nvSpPr>
        <p:spPr>
          <a:xfrm>
            <a:off x="1029000" y="1574974"/>
            <a:ext cx="7086000" cy="2595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User fatigue / “MFA fatigue”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Usability issues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Misinformation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Accessibility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Security trade-offs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Organizational resistance</a:t>
            </a:r>
            <a:endParaRPr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1737EF9-A413-99DB-AA42-EB2944FFE59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13</a:t>
            </a:fld>
            <a:endParaRPr lang="e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32E3BB1-115A-B3C4-8164-7E3DD553F006}"/>
              </a:ext>
            </a:extLst>
          </p:cNvPr>
          <p:cNvSpPr txBox="1"/>
          <p:nvPr/>
        </p:nvSpPr>
        <p:spPr>
          <a:xfrm>
            <a:off x="3400147" y="4821121"/>
            <a:ext cx="234370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Simply Cyber Con 2025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7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can be done?</a:t>
            </a:r>
            <a:endParaRPr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E046C6D-8E1D-B568-8FFF-3C8C2EF7251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14</a:t>
            </a:fld>
            <a:endParaRPr lang="e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B11AB0F-7C89-1E33-41C3-D0A0DE9A8C2A}"/>
              </a:ext>
            </a:extLst>
          </p:cNvPr>
          <p:cNvSpPr txBox="1"/>
          <p:nvPr/>
        </p:nvSpPr>
        <p:spPr>
          <a:xfrm>
            <a:off x="3400147" y="4821121"/>
            <a:ext cx="234370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Simply Cyber Con 2025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28"/>
          <p:cNvSpPr txBox="1">
            <a:spLocks noGrp="1"/>
          </p:cNvSpPr>
          <p:nvPr>
            <p:ph type="title"/>
          </p:nvPr>
        </p:nvSpPr>
        <p:spPr>
          <a:xfrm>
            <a:off x="311700" y="930092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Remaining gaps in public perception</a:t>
            </a:r>
            <a:endParaRPr/>
          </a:p>
        </p:txBody>
      </p:sp>
      <p:sp>
        <p:nvSpPr>
          <p:cNvPr id="151" name="Google Shape;151;p28"/>
          <p:cNvSpPr txBox="1">
            <a:spLocks noGrp="1"/>
          </p:cNvSpPr>
          <p:nvPr>
            <p:ph type="body" idx="1"/>
          </p:nvPr>
        </p:nvSpPr>
        <p:spPr>
          <a:xfrm>
            <a:off x="1029000" y="1574974"/>
            <a:ext cx="7086000" cy="2595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Lack of understanding of MFA’s importance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Belief that MFA is complicated or unnecessary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Privacy and trust concerns about biometrics and third-party tools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Limited support for users facing issues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endParaRPr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8295E18-6E67-155C-7959-BA5F9FB3A1F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15</a:t>
            </a:fld>
            <a:endParaRPr lang="e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8A6767B-4D2D-A33A-C232-DD23E3A95C7A}"/>
              </a:ext>
            </a:extLst>
          </p:cNvPr>
          <p:cNvSpPr txBox="1"/>
          <p:nvPr/>
        </p:nvSpPr>
        <p:spPr>
          <a:xfrm>
            <a:off x="3400147" y="4821121"/>
            <a:ext cx="234370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Simply Cyber Con 2025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9"/>
          <p:cNvSpPr txBox="1">
            <a:spLocks noGrp="1"/>
          </p:cNvSpPr>
          <p:nvPr>
            <p:ph type="title"/>
          </p:nvPr>
        </p:nvSpPr>
        <p:spPr>
          <a:xfrm>
            <a:off x="311700" y="930092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can we reframe these challenges?</a:t>
            </a:r>
            <a:endParaRPr/>
          </a:p>
        </p:txBody>
      </p:sp>
      <p:sp>
        <p:nvSpPr>
          <p:cNvPr id="157" name="Google Shape;157;p29"/>
          <p:cNvSpPr txBox="1">
            <a:spLocks noGrp="1"/>
          </p:cNvSpPr>
          <p:nvPr>
            <p:ph type="body" idx="1"/>
          </p:nvPr>
        </p:nvSpPr>
        <p:spPr>
          <a:xfrm>
            <a:off x="1029000" y="1574974"/>
            <a:ext cx="7086000" cy="2595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Emphasize personal empowerment and convenience over security mandates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Use case studies and real-world scenarios to show MFA's practical benefits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Frame MFA as a proactive step to protect personal and professional digital lives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Stress the positive impact of MFA on daily security habits</a:t>
            </a:r>
            <a:endParaRPr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46035E1-C76F-5C80-FA6E-D3D9E94DDED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16</a:t>
            </a:fld>
            <a:endParaRPr lang="e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3C2D1E0-10F9-D58B-1CF6-068F4A5345EB}"/>
              </a:ext>
            </a:extLst>
          </p:cNvPr>
          <p:cNvSpPr txBox="1"/>
          <p:nvPr/>
        </p:nvSpPr>
        <p:spPr>
          <a:xfrm>
            <a:off x="3400147" y="4821121"/>
            <a:ext cx="234370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Simply Cyber Con 2025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30"/>
          <p:cNvSpPr txBox="1">
            <a:spLocks noGrp="1"/>
          </p:cNvSpPr>
          <p:nvPr>
            <p:ph type="title"/>
          </p:nvPr>
        </p:nvSpPr>
        <p:spPr>
          <a:xfrm>
            <a:off x="635250" y="526354"/>
            <a:ext cx="78735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Tailor your messaging to your audience's needs</a:t>
            </a:r>
            <a:endParaRPr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3A210AD-D420-96D3-20D5-7A4FE304B12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17</a:t>
            </a:fld>
            <a:endParaRPr lang="e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237856F-ACDD-18FF-CF4B-C09AA0105BB0}"/>
              </a:ext>
            </a:extLst>
          </p:cNvPr>
          <p:cNvSpPr txBox="1"/>
          <p:nvPr/>
        </p:nvSpPr>
        <p:spPr>
          <a:xfrm>
            <a:off x="3400147" y="4821121"/>
            <a:ext cx="234370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Simply Cyber Con 2025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31"/>
          <p:cNvSpPr txBox="1">
            <a:spLocks noGrp="1"/>
          </p:cNvSpPr>
          <p:nvPr>
            <p:ph type="title"/>
          </p:nvPr>
        </p:nvSpPr>
        <p:spPr>
          <a:xfrm>
            <a:off x="311700" y="930092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Non-technical users</a:t>
            </a:r>
            <a:endParaRPr/>
          </a:p>
        </p:txBody>
      </p:sp>
      <p:sp>
        <p:nvSpPr>
          <p:cNvPr id="168" name="Google Shape;168;p31"/>
          <p:cNvSpPr txBox="1">
            <a:spLocks noGrp="1"/>
          </p:cNvSpPr>
          <p:nvPr>
            <p:ph type="body" idx="1"/>
          </p:nvPr>
        </p:nvSpPr>
        <p:spPr>
          <a:xfrm>
            <a:off x="1029000" y="1574974"/>
            <a:ext cx="7086000" cy="2595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lvl="0"/>
            <a:r>
              <a:rPr lang="en-US" dirty="0"/>
              <a:t>Use visual metaphors</a:t>
            </a: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Give step-by-step walkthroughs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Present in a story format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Relate to everyday tools</a:t>
            </a:r>
            <a:endParaRPr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F69CF93-1ED4-94FA-BC16-95577604A4A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18</a:t>
            </a:fld>
            <a:endParaRPr lang="e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6E1A1EF-E513-06C0-9247-2744D67254AA}"/>
              </a:ext>
            </a:extLst>
          </p:cNvPr>
          <p:cNvSpPr txBox="1"/>
          <p:nvPr/>
        </p:nvSpPr>
        <p:spPr>
          <a:xfrm>
            <a:off x="3400147" y="4821121"/>
            <a:ext cx="234370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Simply Cyber Con 2025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32"/>
          <p:cNvSpPr txBox="1">
            <a:spLocks noGrp="1"/>
          </p:cNvSpPr>
          <p:nvPr>
            <p:ph type="title"/>
          </p:nvPr>
        </p:nvSpPr>
        <p:spPr>
          <a:xfrm>
            <a:off x="311700" y="930092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Business leaders</a:t>
            </a:r>
            <a:endParaRPr/>
          </a:p>
        </p:txBody>
      </p:sp>
      <p:sp>
        <p:nvSpPr>
          <p:cNvPr id="174" name="Google Shape;174;p32"/>
          <p:cNvSpPr txBox="1">
            <a:spLocks noGrp="1"/>
          </p:cNvSpPr>
          <p:nvPr>
            <p:ph type="body" idx="1"/>
          </p:nvPr>
        </p:nvSpPr>
        <p:spPr>
          <a:xfrm>
            <a:off x="1029000" y="1574974"/>
            <a:ext cx="7086000" cy="2595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Focus on continuing "BAU"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Emphasize maintaining trust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Highlight protecting assets</a:t>
            </a:r>
            <a:endParaRPr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CE09EBB-E4B5-178E-0C1C-0893F667517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19</a:t>
            </a:fld>
            <a:endParaRPr lang="e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D505940-97A5-A661-D5F0-8AA7CFE90C46}"/>
              </a:ext>
            </a:extLst>
          </p:cNvPr>
          <p:cNvSpPr txBox="1"/>
          <p:nvPr/>
        </p:nvSpPr>
        <p:spPr>
          <a:xfrm>
            <a:off x="3400147" y="4821121"/>
            <a:ext cx="234370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Simply Cyber Con 2025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33"/>
          <p:cNvSpPr txBox="1">
            <a:spLocks noGrp="1"/>
          </p:cNvSpPr>
          <p:nvPr>
            <p:ph type="title"/>
          </p:nvPr>
        </p:nvSpPr>
        <p:spPr>
          <a:xfrm>
            <a:off x="311700" y="930092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Technical audiences</a:t>
            </a:r>
            <a:endParaRPr/>
          </a:p>
        </p:txBody>
      </p:sp>
      <p:sp>
        <p:nvSpPr>
          <p:cNvPr id="180" name="Google Shape;180;p33"/>
          <p:cNvSpPr txBox="1">
            <a:spLocks noGrp="1"/>
          </p:cNvSpPr>
          <p:nvPr>
            <p:ph type="body" idx="1"/>
          </p:nvPr>
        </p:nvSpPr>
        <p:spPr>
          <a:xfrm>
            <a:off x="1029000" y="1574974"/>
            <a:ext cx="7086000" cy="2595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Highlight advancements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Identify security integrations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Leverage existing technologies in the conversation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Leave room for them to take the lead</a:t>
            </a:r>
            <a:endParaRPr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7249D28-F79C-9B9D-F3DC-1B8CD2593E2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20</a:t>
            </a:fld>
            <a:endParaRPr lang="e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326ABC6-8736-DF4D-5D34-8B730A5CE319}"/>
              </a:ext>
            </a:extLst>
          </p:cNvPr>
          <p:cNvSpPr txBox="1"/>
          <p:nvPr/>
        </p:nvSpPr>
        <p:spPr>
          <a:xfrm>
            <a:off x="3400147" y="4821121"/>
            <a:ext cx="234370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Simply Cyber Con 2025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34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Best Practices</a:t>
            </a:r>
            <a:endParaRPr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6EE9255-49EA-3989-7CA4-B4F100B6687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21</a:t>
            </a:fld>
            <a:endParaRPr lang="e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4D8AA34-3B7F-A007-0DDF-74EAE3B2BC1B}"/>
              </a:ext>
            </a:extLst>
          </p:cNvPr>
          <p:cNvSpPr txBox="1"/>
          <p:nvPr/>
        </p:nvSpPr>
        <p:spPr>
          <a:xfrm>
            <a:off x="3400147" y="4821121"/>
            <a:ext cx="234370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Simply Cyber Con 2025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35"/>
          <p:cNvSpPr txBox="1">
            <a:spLocks noGrp="1"/>
          </p:cNvSpPr>
          <p:nvPr>
            <p:ph type="title"/>
          </p:nvPr>
        </p:nvSpPr>
        <p:spPr>
          <a:xfrm>
            <a:off x="311700" y="930092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do good adoption practices look like?</a:t>
            </a:r>
            <a:endParaRPr/>
          </a:p>
        </p:txBody>
      </p:sp>
      <p:sp>
        <p:nvSpPr>
          <p:cNvPr id="191" name="Google Shape;191;p35"/>
          <p:cNvSpPr txBox="1">
            <a:spLocks noGrp="1"/>
          </p:cNvSpPr>
          <p:nvPr>
            <p:ph type="body" idx="1"/>
          </p:nvPr>
        </p:nvSpPr>
        <p:spPr>
          <a:xfrm>
            <a:off x="1029000" y="1574974"/>
            <a:ext cx="7086000" cy="2595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Provide clear onboarding instructions and continuous support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Integrate MFA smoothly into existing processes with user-friendly tools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Highlight industry trends towards passwordless solutions to appeal to progressives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Minimize setup friction and encourage user feedback to understand pain points</a:t>
            </a:r>
            <a:endParaRPr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17DEE23-0A64-1456-6057-1F96DA5CB69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22</a:t>
            </a:fld>
            <a:endParaRPr lang="e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7DADE2F-92ED-2904-09DE-B7B48048B960}"/>
              </a:ext>
            </a:extLst>
          </p:cNvPr>
          <p:cNvSpPr txBox="1"/>
          <p:nvPr/>
        </p:nvSpPr>
        <p:spPr>
          <a:xfrm>
            <a:off x="3400147" y="4821121"/>
            <a:ext cx="234370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Simply Cyber Con 2025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36"/>
          <p:cNvSpPr txBox="1">
            <a:spLocks noGrp="1"/>
          </p:cNvSpPr>
          <p:nvPr>
            <p:ph type="title"/>
          </p:nvPr>
        </p:nvSpPr>
        <p:spPr>
          <a:xfrm>
            <a:off x="311700" y="930092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does “enhanced” communication look like?</a:t>
            </a:r>
            <a:endParaRPr/>
          </a:p>
        </p:txBody>
      </p:sp>
      <p:sp>
        <p:nvSpPr>
          <p:cNvPr id="197" name="Google Shape;197;p36"/>
          <p:cNvSpPr txBox="1">
            <a:spLocks noGrp="1"/>
          </p:cNvSpPr>
          <p:nvPr>
            <p:ph type="body" idx="1"/>
          </p:nvPr>
        </p:nvSpPr>
        <p:spPr>
          <a:xfrm>
            <a:off x="1029000" y="1574974"/>
            <a:ext cx="7086000" cy="2595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Empathetic communication</a:t>
            </a:r>
            <a:endParaRPr/>
          </a:p>
          <a:p>
            <a:pPr marL="914400" lvl="1" indent="-317500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Acknowledge user frustrations!</a:t>
            </a:r>
            <a:endParaRPr/>
          </a:p>
          <a:p>
            <a:pPr marL="457200" lvl="0" indent="-342900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Clear facts about MFA's importance through targeted content</a:t>
            </a:r>
            <a:endParaRPr/>
          </a:p>
          <a:p>
            <a:pPr marL="914400" lvl="1" indent="-317500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FAQs</a:t>
            </a:r>
            <a:endParaRPr/>
          </a:p>
          <a:p>
            <a:pPr marL="914400" lvl="1" indent="-317500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Myth-busting articles</a:t>
            </a:r>
            <a:endParaRPr/>
          </a:p>
          <a:p>
            <a:pPr marL="914400" lvl="1" indent="-317500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Success stories</a:t>
            </a:r>
            <a:endParaRPr/>
          </a:p>
          <a:p>
            <a:pPr marL="457200" lvl="0" indent="-342900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Leverage social media platforms (internal and external)</a:t>
            </a:r>
            <a:endParaRPr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438EE25-42D2-93AD-25E1-E5E0FE8324BF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23</a:t>
            </a:fld>
            <a:endParaRPr lang="e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57BA044-5328-72DC-8CC5-3C25839BC357}"/>
              </a:ext>
            </a:extLst>
          </p:cNvPr>
          <p:cNvSpPr txBox="1"/>
          <p:nvPr/>
        </p:nvSpPr>
        <p:spPr>
          <a:xfrm>
            <a:off x="3400147" y="4821121"/>
            <a:ext cx="234370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Simply Cyber Con 2025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37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role of the cybersecurity community and professionals</a:t>
            </a:r>
            <a:endParaRPr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0384287-146B-C303-7BF8-F5DE9FC6A3F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24</a:t>
            </a:fld>
            <a:endParaRPr lang="e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21176E9-325F-FBCB-5D89-863676FAE698}"/>
              </a:ext>
            </a:extLst>
          </p:cNvPr>
          <p:cNvSpPr txBox="1"/>
          <p:nvPr/>
        </p:nvSpPr>
        <p:spPr>
          <a:xfrm>
            <a:off x="3400147" y="4821121"/>
            <a:ext cx="234370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Simply Cyber Con 2025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38"/>
          <p:cNvSpPr txBox="1">
            <a:spLocks noGrp="1"/>
          </p:cNvSpPr>
          <p:nvPr>
            <p:ph type="title"/>
          </p:nvPr>
        </p:nvSpPr>
        <p:spPr>
          <a:xfrm>
            <a:off x="311700" y="930092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is our responsibility in changing perceptions?</a:t>
            </a:r>
            <a:endParaRPr/>
          </a:p>
        </p:txBody>
      </p:sp>
      <p:sp>
        <p:nvSpPr>
          <p:cNvPr id="208" name="Google Shape;208;p38"/>
          <p:cNvSpPr txBox="1">
            <a:spLocks noGrp="1"/>
          </p:cNvSpPr>
          <p:nvPr>
            <p:ph type="body" idx="1"/>
          </p:nvPr>
        </p:nvSpPr>
        <p:spPr>
          <a:xfrm>
            <a:off x="1029000" y="1574974"/>
            <a:ext cx="7086000" cy="2595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lnSpcReduction="10000"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Model best practices and articulate MFA's benefits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Share your experiences (good and bad)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Develop and promote user-centric solutions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Inspire voluntary adoption with stories of positive impact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Be the example by implementing/advocating for MFA within your organizations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Collaborate across sectors for unified strategies to foster adoption</a:t>
            </a:r>
            <a:endParaRPr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9955DEC-4F2A-313A-F751-EB63E9A9CC6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25</a:t>
            </a:fld>
            <a:endParaRPr lang="e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4B86AE9-49DD-E889-C65A-88A4CBEE9B28}"/>
              </a:ext>
            </a:extLst>
          </p:cNvPr>
          <p:cNvSpPr txBox="1"/>
          <p:nvPr/>
        </p:nvSpPr>
        <p:spPr>
          <a:xfrm>
            <a:off x="3400147" y="4821121"/>
            <a:ext cx="234370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Simply Cyber Con 2025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39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tools or frameworks can actually support community driven efforts?</a:t>
            </a:r>
            <a:endParaRPr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40E58B0-6421-725C-2803-389022F2A9F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26</a:t>
            </a:fld>
            <a:endParaRPr lang="e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05BCD9D-5C93-E3CC-AB77-F0FA9EF04C3C}"/>
              </a:ext>
            </a:extLst>
          </p:cNvPr>
          <p:cNvSpPr txBox="1"/>
          <p:nvPr/>
        </p:nvSpPr>
        <p:spPr>
          <a:xfrm>
            <a:off x="3400147" y="4821121"/>
            <a:ext cx="234370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Simply Cyber Con 2025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40"/>
          <p:cNvSpPr txBox="1">
            <a:spLocks noGrp="1"/>
          </p:cNvSpPr>
          <p:nvPr>
            <p:ph type="title"/>
          </p:nvPr>
        </p:nvSpPr>
        <p:spPr>
          <a:xfrm>
            <a:off x="311700" y="930092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Collaborative platforms</a:t>
            </a:r>
            <a:endParaRPr/>
          </a:p>
        </p:txBody>
      </p:sp>
      <p:sp>
        <p:nvSpPr>
          <p:cNvPr id="219" name="Google Shape;219;p40"/>
          <p:cNvSpPr txBox="1">
            <a:spLocks noGrp="1"/>
          </p:cNvSpPr>
          <p:nvPr>
            <p:ph type="body" idx="1"/>
          </p:nvPr>
        </p:nvSpPr>
        <p:spPr>
          <a:xfrm>
            <a:off x="1029000" y="1574974"/>
            <a:ext cx="7086000" cy="2595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Slack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Discord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BlueSky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 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IN-PERSON MEET-UPS!</a:t>
            </a:r>
            <a:endParaRPr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3E8A24D-6C9D-2ABA-1771-02894B6A4EC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27</a:t>
            </a:fld>
            <a:endParaRPr lang="e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0D75471-CF10-8CAB-0B85-7872F7C99758}"/>
              </a:ext>
            </a:extLst>
          </p:cNvPr>
          <p:cNvSpPr txBox="1"/>
          <p:nvPr/>
        </p:nvSpPr>
        <p:spPr>
          <a:xfrm>
            <a:off x="3400147" y="4821121"/>
            <a:ext cx="234370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Simply Cyber Con 2025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41"/>
          <p:cNvSpPr txBox="1">
            <a:spLocks noGrp="1"/>
          </p:cNvSpPr>
          <p:nvPr>
            <p:ph type="title"/>
          </p:nvPr>
        </p:nvSpPr>
        <p:spPr>
          <a:xfrm>
            <a:off x="311700" y="930092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Feedback loops	</a:t>
            </a:r>
            <a:endParaRPr/>
          </a:p>
        </p:txBody>
      </p:sp>
      <p:sp>
        <p:nvSpPr>
          <p:cNvPr id="225" name="Google Shape;225;p41"/>
          <p:cNvSpPr txBox="1">
            <a:spLocks noGrp="1"/>
          </p:cNvSpPr>
          <p:nvPr>
            <p:ph type="body" idx="1"/>
          </p:nvPr>
        </p:nvSpPr>
        <p:spPr>
          <a:xfrm>
            <a:off x="1029000" y="1574974"/>
            <a:ext cx="7086000" cy="2595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Implement regular feedback within your communities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Use the collected data to iterate and innovate</a:t>
            </a:r>
            <a:endParaRPr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B54F477-60CF-B895-B9E6-8F7AE5BE6CD7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28</a:t>
            </a:fld>
            <a:endParaRPr lang="e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AC530A5-AEBF-AAE9-D66E-94D7A33329D4}"/>
              </a:ext>
            </a:extLst>
          </p:cNvPr>
          <p:cNvSpPr txBox="1"/>
          <p:nvPr/>
        </p:nvSpPr>
        <p:spPr>
          <a:xfrm>
            <a:off x="3400147" y="4821121"/>
            <a:ext cx="234370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Simply Cyber Con 2025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42"/>
          <p:cNvSpPr/>
          <p:nvPr/>
        </p:nvSpPr>
        <p:spPr>
          <a:xfrm>
            <a:off x="3911850" y="3504475"/>
            <a:ext cx="1401900" cy="48000"/>
          </a:xfrm>
          <a:prstGeom prst="rect">
            <a:avLst/>
          </a:prstGeom>
          <a:solidFill>
            <a:srgbClr val="3E7CE8"/>
          </a:solidFill>
          <a:ln w="9525" cap="flat" cmpd="sng">
            <a:solidFill>
              <a:srgbClr val="3E7CE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1" name="Google Shape;231;p42"/>
          <p:cNvSpPr txBox="1">
            <a:spLocks noGrp="1"/>
          </p:cNvSpPr>
          <p:nvPr>
            <p:ph type="body" idx="1"/>
          </p:nvPr>
        </p:nvSpPr>
        <p:spPr>
          <a:xfrm>
            <a:off x="1029000" y="1574974"/>
            <a:ext cx="7086000" cy="2595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Highlight examples of MFA protecting against breaches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Use real-world examples in training sessions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endParaRPr sz="28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endParaRPr/>
          </a:p>
        </p:txBody>
      </p:sp>
      <p:sp>
        <p:nvSpPr>
          <p:cNvPr id="232" name="Google Shape;232;p42"/>
          <p:cNvSpPr txBox="1">
            <a:spLocks noGrp="1"/>
          </p:cNvSpPr>
          <p:nvPr>
            <p:ph type="title"/>
          </p:nvPr>
        </p:nvSpPr>
        <p:spPr>
          <a:xfrm>
            <a:off x="311700" y="930092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Success story sharing</a:t>
            </a:r>
            <a:endParaRPr/>
          </a:p>
        </p:txBody>
      </p:sp>
      <p:sp>
        <p:nvSpPr>
          <p:cNvPr id="233" name="Google Shape;233;p42"/>
          <p:cNvSpPr txBox="1"/>
          <p:nvPr/>
        </p:nvSpPr>
        <p:spPr>
          <a:xfrm>
            <a:off x="311700" y="3049200"/>
            <a:ext cx="8520600" cy="104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>
                <a:solidFill>
                  <a:schemeClr val="dk1"/>
                </a:solidFill>
              </a:rPr>
              <a:t>The goal</a:t>
            </a:r>
            <a:endParaRPr sz="2800">
              <a:solidFill>
                <a:schemeClr val="dk1"/>
              </a:solidFill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>
                <a:solidFill>
                  <a:schemeClr val="dk1"/>
                </a:solidFill>
              </a:rPr>
              <a:t>Make MFA benefits relatable and tangible!</a:t>
            </a:r>
            <a:endParaRPr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F988A61-B44B-84C1-5AC9-D124635D0757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29</a:t>
            </a:fld>
            <a:endParaRPr lang="e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CDC9355-0C0E-44E5-EE20-F14D8771E84D}"/>
              </a:ext>
            </a:extLst>
          </p:cNvPr>
          <p:cNvSpPr txBox="1"/>
          <p:nvPr/>
        </p:nvSpPr>
        <p:spPr>
          <a:xfrm>
            <a:off x="3400147" y="4821121"/>
            <a:ext cx="234370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Simply Cyber Con 2025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4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has worked for me:</a:t>
            </a:r>
            <a:endParaRPr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F2E99D2-8AFB-769F-3016-2A54DE2759D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30</a:t>
            </a:fld>
            <a:endParaRPr lang="e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31A4BE3-1519-D09C-03FC-213C9B4B488E}"/>
              </a:ext>
            </a:extLst>
          </p:cNvPr>
          <p:cNvSpPr txBox="1"/>
          <p:nvPr/>
        </p:nvSpPr>
        <p:spPr>
          <a:xfrm>
            <a:off x="3400147" y="4821121"/>
            <a:ext cx="234370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Simply Cyber Con 2025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p44"/>
          <p:cNvSpPr txBox="1">
            <a:spLocks noGrp="1"/>
          </p:cNvSpPr>
          <p:nvPr>
            <p:ph type="title"/>
          </p:nvPr>
        </p:nvSpPr>
        <p:spPr>
          <a:xfrm>
            <a:off x="311700" y="930092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Viewing communication as "sales"</a:t>
            </a:r>
            <a:endParaRPr/>
          </a:p>
        </p:txBody>
      </p:sp>
      <p:sp>
        <p:nvSpPr>
          <p:cNvPr id="244" name="Google Shape;244;p44"/>
          <p:cNvSpPr txBox="1">
            <a:spLocks noGrp="1"/>
          </p:cNvSpPr>
          <p:nvPr>
            <p:ph type="body" idx="1"/>
          </p:nvPr>
        </p:nvSpPr>
        <p:spPr>
          <a:xfrm>
            <a:off x="1029000" y="1574974"/>
            <a:ext cx="7086000" cy="2595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Leveraged the "What? So What? Now What?" communication style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Improved user engagement and comprehension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Simplified communication</a:t>
            </a:r>
            <a:endParaRPr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D85351E-17C8-DD32-CAF2-4DAAF14ECEBF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31</a:t>
            </a:fld>
            <a:endParaRPr lang="e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75998A7-9E9B-8251-59A8-2CA8BA8AB738}"/>
              </a:ext>
            </a:extLst>
          </p:cNvPr>
          <p:cNvSpPr txBox="1"/>
          <p:nvPr/>
        </p:nvSpPr>
        <p:spPr>
          <a:xfrm>
            <a:off x="3400147" y="4821121"/>
            <a:ext cx="234370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Simply Cyber Con 2025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45"/>
          <p:cNvSpPr txBox="1">
            <a:spLocks noGrp="1"/>
          </p:cNvSpPr>
          <p:nvPr>
            <p:ph type="title"/>
          </p:nvPr>
        </p:nvSpPr>
        <p:spPr>
          <a:xfrm>
            <a:off x="311700" y="930092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Reviewed public studies showing MFA trends</a:t>
            </a:r>
            <a:endParaRPr/>
          </a:p>
        </p:txBody>
      </p:sp>
      <p:sp>
        <p:nvSpPr>
          <p:cNvPr id="250" name="Google Shape;250;p45"/>
          <p:cNvSpPr txBox="1">
            <a:spLocks noGrp="1"/>
          </p:cNvSpPr>
          <p:nvPr>
            <p:ph type="body" idx="1"/>
          </p:nvPr>
        </p:nvSpPr>
        <p:spPr>
          <a:xfrm>
            <a:off x="1029000" y="1574974"/>
            <a:ext cx="7086000" cy="2595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Draw parallels to successful corporate strategies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Speak knowledgeably with users of all technical levels</a:t>
            </a:r>
            <a:endParaRPr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916ED9E-6C24-D674-44C3-2ED389D9195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32</a:t>
            </a:fld>
            <a:endParaRPr lang="e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84DED47-9402-D2DE-2231-917DE75700D1}"/>
              </a:ext>
            </a:extLst>
          </p:cNvPr>
          <p:cNvSpPr txBox="1"/>
          <p:nvPr/>
        </p:nvSpPr>
        <p:spPr>
          <a:xfrm>
            <a:off x="3400147" y="4821121"/>
            <a:ext cx="234370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Simply Cyber Con 2025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46"/>
          <p:cNvSpPr txBox="1">
            <a:spLocks noGrp="1"/>
          </p:cNvSpPr>
          <p:nvPr>
            <p:ph type="title"/>
          </p:nvPr>
        </p:nvSpPr>
        <p:spPr>
          <a:xfrm>
            <a:off x="311700" y="930092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Engaged clients across the hierarchy</a:t>
            </a:r>
            <a:endParaRPr/>
          </a:p>
        </p:txBody>
      </p:sp>
      <p:sp>
        <p:nvSpPr>
          <p:cNvPr id="256" name="Google Shape;256;p46"/>
          <p:cNvSpPr txBox="1">
            <a:spLocks noGrp="1"/>
          </p:cNvSpPr>
          <p:nvPr>
            <p:ph type="body" idx="1"/>
          </p:nvPr>
        </p:nvSpPr>
        <p:spPr>
          <a:xfrm>
            <a:off x="1029000" y="1574974"/>
            <a:ext cx="7086000" cy="2595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Conducted email campaigns and "town hall" meetings to boost security literacy company-wide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Led small group "info sessions" with stakeholders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Refined messaging in both of these formats to solidify understanding</a:t>
            </a:r>
            <a:endParaRPr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52A0185-1FBF-1FFA-FBA0-40E9A6F9857F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33</a:t>
            </a:fld>
            <a:endParaRPr lang="e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0C583C6-D750-D686-09BD-03788A62A91E}"/>
              </a:ext>
            </a:extLst>
          </p:cNvPr>
          <p:cNvSpPr txBox="1"/>
          <p:nvPr/>
        </p:nvSpPr>
        <p:spPr>
          <a:xfrm>
            <a:off x="3400147" y="4821121"/>
            <a:ext cx="234370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Simply Cyber Con 2025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p47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Examples</a:t>
            </a:r>
            <a:endParaRPr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39B791C-8CD6-98E9-1630-BCE5CFC9903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34</a:t>
            </a:fld>
            <a:endParaRPr lang="e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3B2A177-9764-9AC4-17DD-B1EAECCCA54E}"/>
              </a:ext>
            </a:extLst>
          </p:cNvPr>
          <p:cNvSpPr txBox="1"/>
          <p:nvPr/>
        </p:nvSpPr>
        <p:spPr>
          <a:xfrm>
            <a:off x="3400147" y="4821121"/>
            <a:ext cx="234370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Simply Cyber Con 2025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Google Shape;266;p48"/>
          <p:cNvSpPr txBox="1">
            <a:spLocks noGrp="1"/>
          </p:cNvSpPr>
          <p:nvPr>
            <p:ph type="title"/>
          </p:nvPr>
        </p:nvSpPr>
        <p:spPr>
          <a:xfrm>
            <a:off x="311700" y="930092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Positive experience: Yubikeys</a:t>
            </a:r>
            <a:endParaRPr/>
          </a:p>
        </p:txBody>
      </p:sp>
      <p:sp>
        <p:nvSpPr>
          <p:cNvPr id="267" name="Google Shape;267;p48"/>
          <p:cNvSpPr txBox="1">
            <a:spLocks noGrp="1"/>
          </p:cNvSpPr>
          <p:nvPr>
            <p:ph type="body" idx="1"/>
          </p:nvPr>
        </p:nvSpPr>
        <p:spPr>
          <a:xfrm>
            <a:off x="1029000" y="1574974"/>
            <a:ext cx="7086000" cy="2595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Demonstrated the ease of increase security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Fostered acceptance from hesitant users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FOMO</a:t>
            </a:r>
            <a:endParaRPr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94865A2-AC49-08F1-1395-72500A2C430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35</a:t>
            </a:fld>
            <a:endParaRPr lang="e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83C4F60-5171-C598-32D9-D1D0395E046C}"/>
              </a:ext>
            </a:extLst>
          </p:cNvPr>
          <p:cNvSpPr txBox="1"/>
          <p:nvPr/>
        </p:nvSpPr>
        <p:spPr>
          <a:xfrm>
            <a:off x="3400147" y="4821121"/>
            <a:ext cx="234370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Simply Cyber Con 2025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49"/>
          <p:cNvSpPr txBox="1">
            <a:spLocks noGrp="1"/>
          </p:cNvSpPr>
          <p:nvPr>
            <p:ph type="title"/>
          </p:nvPr>
        </p:nvSpPr>
        <p:spPr>
          <a:xfrm>
            <a:off x="311700" y="930092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Negative reinforcement: RSA Tokens</a:t>
            </a:r>
            <a:endParaRPr/>
          </a:p>
        </p:txBody>
      </p:sp>
      <p:sp>
        <p:nvSpPr>
          <p:cNvPr id="273" name="Google Shape;273;p49"/>
          <p:cNvSpPr txBox="1">
            <a:spLocks noGrp="1"/>
          </p:cNvSpPr>
          <p:nvPr>
            <p:ph type="body" idx="1"/>
          </p:nvPr>
        </p:nvSpPr>
        <p:spPr>
          <a:xfrm>
            <a:off x="1029000" y="1574974"/>
            <a:ext cx="7086000" cy="2595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Provided TOTP hardware tokens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Assigned additional training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Created a route to simplify upgrades</a:t>
            </a:r>
            <a:endParaRPr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0C9601F-EFE0-3B7D-C00A-81778A0B39F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36</a:t>
            </a:fld>
            <a:endParaRPr lang="e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65859A0-D7E1-01DF-6ED0-FCBB89227073}"/>
              </a:ext>
            </a:extLst>
          </p:cNvPr>
          <p:cNvSpPr txBox="1"/>
          <p:nvPr/>
        </p:nvSpPr>
        <p:spPr>
          <a:xfrm>
            <a:off x="3400147" y="4821121"/>
            <a:ext cx="234370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Simply Cyber Con 2025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50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Conclusion</a:t>
            </a:r>
            <a:endParaRPr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4BE52AC-BCFC-5458-9C40-5DDF9745377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37</a:t>
            </a:fld>
            <a:endParaRPr lang="e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D8E766F-7402-1295-08A3-78DAAD79F134}"/>
              </a:ext>
            </a:extLst>
          </p:cNvPr>
          <p:cNvSpPr txBox="1"/>
          <p:nvPr/>
        </p:nvSpPr>
        <p:spPr>
          <a:xfrm>
            <a:off x="3400147" y="4821121"/>
            <a:ext cx="234370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Simply Cyber Con 2025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51"/>
          <p:cNvSpPr txBox="1">
            <a:spLocks noGrp="1"/>
          </p:cNvSpPr>
          <p:nvPr>
            <p:ph type="title"/>
          </p:nvPr>
        </p:nvSpPr>
        <p:spPr>
          <a:xfrm>
            <a:off x="311700" y="930092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can you do?</a:t>
            </a:r>
            <a:endParaRPr/>
          </a:p>
        </p:txBody>
      </p:sp>
      <p:sp>
        <p:nvSpPr>
          <p:cNvPr id="284" name="Google Shape;284;p51"/>
          <p:cNvSpPr txBox="1">
            <a:spLocks noGrp="1"/>
          </p:cNvSpPr>
          <p:nvPr>
            <p:ph type="body" idx="1"/>
          </p:nvPr>
        </p:nvSpPr>
        <p:spPr>
          <a:xfrm>
            <a:off x="1029000" y="1574974"/>
            <a:ext cx="7086000" cy="2595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Practice what you preach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Share your experiences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Use RELATABLE examples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Avoid "technical" descriptions: KISS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Approach with empathy and simplicity</a:t>
            </a:r>
            <a:endParaRPr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1C65431-7C7D-6074-36E8-A85FC3FE8A6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38</a:t>
            </a:fld>
            <a:endParaRPr lang="e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4552E32-5355-9D4F-F723-A56A3A7AD4B5}"/>
              </a:ext>
            </a:extLst>
          </p:cNvPr>
          <p:cNvSpPr txBox="1"/>
          <p:nvPr/>
        </p:nvSpPr>
        <p:spPr>
          <a:xfrm>
            <a:off x="3400147" y="4821121"/>
            <a:ext cx="234370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Simply Cyber Con 2025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p52"/>
          <p:cNvSpPr txBox="1">
            <a:spLocks noGrp="1"/>
          </p:cNvSpPr>
          <p:nvPr>
            <p:ph type="title"/>
          </p:nvPr>
        </p:nvSpPr>
        <p:spPr>
          <a:xfrm>
            <a:off x="311700" y="930092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References:</a:t>
            </a:r>
            <a:endParaRPr/>
          </a:p>
        </p:txBody>
      </p:sp>
      <p:sp>
        <p:nvSpPr>
          <p:cNvPr id="290" name="Google Shape;290;p52"/>
          <p:cNvSpPr txBox="1">
            <a:spLocks noGrp="1"/>
          </p:cNvSpPr>
          <p:nvPr>
            <p:ph type="body" idx="1"/>
          </p:nvPr>
        </p:nvSpPr>
        <p:spPr>
          <a:xfrm>
            <a:off x="1029000" y="1574974"/>
            <a:ext cx="7086000" cy="2595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55000" lnSpcReduction="2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61111"/>
              <a:buFont typeface="Arial"/>
              <a:buNone/>
            </a:pPr>
            <a:r>
              <a:rPr lang="en"/>
              <a:t>https://pushsecurity.com/blog/which-mfa-methods-should-you-use/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1111"/>
              <a:buFont typeface="Arial"/>
              <a:buNone/>
            </a:pPr>
            <a:r>
              <a:rPr lang="en"/>
              <a:t>https://fidoalliance.org/fido2/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1111"/>
              <a:buFont typeface="Arial"/>
              <a:buNone/>
            </a:pPr>
            <a:r>
              <a:rPr lang="en"/>
              <a:t>https://cloudsecurityalliance.org/blog/2020/07/31/strong-mfa-the-first-stop-on-the-path-to-passwordless#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1111"/>
              <a:buFont typeface="Arial"/>
              <a:buNone/>
            </a:pPr>
            <a:r>
              <a:rPr lang="en"/>
              <a:t>Personal Interview with Jamie Grant, April 25 2025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1111"/>
              <a:buFont typeface="Arial"/>
              <a:buNone/>
            </a:pPr>
            <a:r>
              <a:rPr lang="en"/>
              <a:t>https://www.researchgate.net/publication/335233025_Evaluating_User_Perception_of_Multi-Factor_Authentication_A_Systematic_Review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1111"/>
              <a:buFont typeface="Arial"/>
              <a:buNone/>
            </a:pPr>
            <a:r>
              <a:rPr lang="en"/>
              <a:t>https://www.prove.com/blog/prove-identity-2023-state-of-mfa-report-consumer-attitudes-multi-factor-authentication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https://iacis.org/iis/2021/3_iis_2021_69-80.pdf</a:t>
            </a:r>
            <a:endParaRPr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99D394E-F195-2F8A-5673-1758E574BC5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39</a:t>
            </a:fld>
            <a:endParaRPr lang="e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2415D79-7741-AF61-7846-0FFB3E1E32B9}"/>
              </a:ext>
            </a:extLst>
          </p:cNvPr>
          <p:cNvSpPr txBox="1"/>
          <p:nvPr/>
        </p:nvSpPr>
        <p:spPr>
          <a:xfrm>
            <a:off x="3400147" y="4821121"/>
            <a:ext cx="234370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Simply Cyber Con 2025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p53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Connect with me:</a:t>
            </a:r>
            <a:endParaRPr/>
          </a:p>
        </p:txBody>
      </p:sp>
      <p:sp>
        <p:nvSpPr>
          <p:cNvPr id="296" name="Google Shape;296;p53"/>
          <p:cNvSpPr txBox="1">
            <a:spLocks noGrp="1"/>
          </p:cNvSpPr>
          <p:nvPr>
            <p:ph type="body" idx="4294967295"/>
          </p:nvPr>
        </p:nvSpPr>
        <p:spPr>
          <a:xfrm>
            <a:off x="4633850" y="1655525"/>
            <a:ext cx="3162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85000" lnSpcReduction="20000"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Github.com/SamPlaysKeys</a:t>
            </a:r>
            <a:endParaRPr/>
          </a:p>
        </p:txBody>
      </p:sp>
      <p:pic>
        <p:nvPicPr>
          <p:cNvPr id="297" name="Google Shape;297;p53" title="qrcode-github.co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151950" y="2205550"/>
            <a:ext cx="1997125" cy="1997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98" name="Google Shape;298;p53" title="qrcode-links.samplayskeys.co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431425" y="2205547"/>
            <a:ext cx="1997125" cy="1997125"/>
          </a:xfrm>
          <a:prstGeom prst="rect">
            <a:avLst/>
          </a:prstGeom>
          <a:noFill/>
          <a:ln>
            <a:noFill/>
          </a:ln>
        </p:spPr>
      </p:pic>
      <p:sp>
        <p:nvSpPr>
          <p:cNvPr id="299" name="Google Shape;299;p53"/>
          <p:cNvSpPr txBox="1">
            <a:spLocks noGrp="1"/>
          </p:cNvSpPr>
          <p:nvPr>
            <p:ph type="body" idx="4294967295"/>
          </p:nvPr>
        </p:nvSpPr>
        <p:spPr>
          <a:xfrm>
            <a:off x="1156607" y="1655525"/>
            <a:ext cx="3162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85000" lnSpcReduction="20000"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Links.SamPlaysKeys.com</a:t>
            </a:r>
            <a:endParaRPr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EC27864-C65F-BB7C-D28B-3BCB84DA7DEF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40</a:t>
            </a:fld>
            <a:endParaRPr lang="e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F003764-B83B-1C1D-7A8F-BF418ED4768F}"/>
              </a:ext>
            </a:extLst>
          </p:cNvPr>
          <p:cNvSpPr txBox="1"/>
          <p:nvPr/>
        </p:nvSpPr>
        <p:spPr>
          <a:xfrm>
            <a:off x="3400147" y="4821121"/>
            <a:ext cx="234370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Simply Cyber Con 2025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54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you!</a:t>
            </a:r>
            <a:endParaRPr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D223392-181F-9865-7899-D7E4BC57FD4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41</a:t>
            </a:fld>
            <a:endParaRPr lang="e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4CB2870-1179-117F-E45F-3DA61E2A7B40}"/>
              </a:ext>
            </a:extLst>
          </p:cNvPr>
          <p:cNvSpPr txBox="1"/>
          <p:nvPr/>
        </p:nvSpPr>
        <p:spPr>
          <a:xfrm>
            <a:off x="3400147" y="4821121"/>
            <a:ext cx="234370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Simply Cyber Con 2025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1089</Words>
  <Application>Microsoft Macintosh PowerPoint</Application>
  <PresentationFormat>On-screen Show (16:9)</PresentationFormat>
  <Paragraphs>238</Paragraphs>
  <Slides>41</Slides>
  <Notes>41</Notes>
  <HiddenSlides>4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41</vt:i4>
      </vt:variant>
    </vt:vector>
  </HeadingPairs>
  <TitlesOfParts>
    <vt:vector size="43" baseType="lpstr">
      <vt:lpstr>Arial</vt:lpstr>
      <vt:lpstr>Simple Light</vt:lpstr>
      <vt:lpstr>Reframing Multifactor Authentication in Contemporary Cybersecurity</vt:lpstr>
      <vt:lpstr>Disclaimers</vt:lpstr>
      <vt:lpstr>PowerPoint Presentation</vt:lpstr>
      <vt:lpstr>What is MFA?</vt:lpstr>
      <vt:lpstr>Definition</vt:lpstr>
      <vt:lpstr>* Real world poll of my fiancee at 9 p.m. on a Sunday</vt:lpstr>
      <vt:lpstr>The “three factors of MFA”</vt:lpstr>
      <vt:lpstr>Current MFA methods</vt:lpstr>
      <vt:lpstr>Current perception of MFA</vt:lpstr>
      <vt:lpstr>Why the negative perception?</vt:lpstr>
      <vt:lpstr>What has been done?</vt:lpstr>
      <vt:lpstr>Efforts to promote MFA adoption</vt:lpstr>
      <vt:lpstr>Challenges faced by promoters</vt:lpstr>
      <vt:lpstr>What can be done?</vt:lpstr>
      <vt:lpstr>Remaining gaps in public perception</vt:lpstr>
      <vt:lpstr>How can we reframe these challenges?</vt:lpstr>
      <vt:lpstr>Tailor your messaging to your audience's needs</vt:lpstr>
      <vt:lpstr>Non-technical users</vt:lpstr>
      <vt:lpstr>Business leaders</vt:lpstr>
      <vt:lpstr>Technical audiences</vt:lpstr>
      <vt:lpstr>Best Practices</vt:lpstr>
      <vt:lpstr>What do good adoption practices look like?</vt:lpstr>
      <vt:lpstr>What does “enhanced” communication look like?</vt:lpstr>
      <vt:lpstr>The role of the cybersecurity community and professionals</vt:lpstr>
      <vt:lpstr>What is our responsibility in changing perceptions?</vt:lpstr>
      <vt:lpstr>What tools or frameworks can actually support community driven efforts?</vt:lpstr>
      <vt:lpstr>Collaborative platforms</vt:lpstr>
      <vt:lpstr>Feedback loops </vt:lpstr>
      <vt:lpstr>Success story sharing</vt:lpstr>
      <vt:lpstr>What has worked for me:</vt:lpstr>
      <vt:lpstr>Viewing communication as "sales"</vt:lpstr>
      <vt:lpstr>Reviewed public studies showing MFA trends</vt:lpstr>
      <vt:lpstr>Engaged clients across the hierarchy</vt:lpstr>
      <vt:lpstr>Examples</vt:lpstr>
      <vt:lpstr>Positive experience: Yubikeys</vt:lpstr>
      <vt:lpstr>Negative reinforcement: RSA Tokens</vt:lpstr>
      <vt:lpstr>Conclusion</vt:lpstr>
      <vt:lpstr>What can you do?</vt:lpstr>
      <vt:lpstr>References:</vt:lpstr>
      <vt:lpstr>Connect with me:</vt:lpstr>
      <vt:lpstr>Thank you!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Sam Fleming</cp:lastModifiedBy>
  <cp:revision>2</cp:revision>
  <dcterms:modified xsi:type="dcterms:W3CDTF">2025-11-03T21:18:54Z</dcterms:modified>
</cp:coreProperties>
</file>